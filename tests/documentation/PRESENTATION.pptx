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8E86A-EEC4-47A8-B855-163D42BFA3D1}" type="datetimeFigureOut">
              <a:rPr lang="de-AT" smtClean="0"/>
              <a:t>24.06.2026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70722-C62E-4F1E-956F-9345EAEC091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37318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06B0D97-AD90-B57D-C66E-FF6776FFC49E}"/>
              </a:ext>
            </a:extLst>
          </p:cNvPr>
          <p:cNvSpPr/>
          <p:nvPr userDrawn="1"/>
        </p:nvSpPr>
        <p:spPr>
          <a:xfrm>
            <a:off x="-1" y="0"/>
            <a:ext cx="7991061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40220C-921F-CE9C-3DC8-ADBDE5317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097" y="552810"/>
            <a:ext cx="5316748" cy="2323380"/>
          </a:xfrm>
          <a:noFill/>
          <a:ln>
            <a:noFill/>
          </a:ln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FE7317-8134-5455-2DB9-45869C058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097" y="3645203"/>
            <a:ext cx="4744278" cy="1433788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  <a:endParaRPr lang="de-AT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CE1F301-2AB4-AE60-EA29-94726F39E66F}"/>
              </a:ext>
            </a:extLst>
          </p:cNvPr>
          <p:cNvSpPr/>
          <p:nvPr userDrawn="1"/>
        </p:nvSpPr>
        <p:spPr>
          <a:xfrm>
            <a:off x="598097" y="3213462"/>
            <a:ext cx="7392963" cy="993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54D3A3D-9AB5-0122-06E9-8D3E5AC0A9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921" y="2068272"/>
            <a:ext cx="2721456" cy="2721456"/>
          </a:xfrm>
          <a:prstGeom prst="rect">
            <a:avLst/>
          </a:prstGeom>
        </p:spPr>
      </p:pic>
      <p:sp>
        <p:nvSpPr>
          <p:cNvPr id="11" name="Untertitel 2">
            <a:extLst>
              <a:ext uri="{FF2B5EF4-FFF2-40B4-BE49-F238E27FC236}">
                <a16:creationId xmlns:a16="http://schemas.microsoft.com/office/drawing/2014/main" id="{CB8BFE87-46D8-7233-7A94-83B50FE65482}"/>
              </a:ext>
            </a:extLst>
          </p:cNvPr>
          <p:cNvSpPr txBox="1">
            <a:spLocks/>
          </p:cNvSpPr>
          <p:nvPr userDrawn="1"/>
        </p:nvSpPr>
        <p:spPr>
          <a:xfrm>
            <a:off x="598097" y="5411341"/>
            <a:ext cx="5206355" cy="5181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>
                <a:solidFill>
                  <a:schemeClr val="tx1"/>
                </a:solidFill>
              </a:rPr>
              <a:t>Jonas </a:t>
            </a:r>
            <a:r>
              <a:rPr lang="de-DE" b="1" dirty="0" err="1">
                <a:solidFill>
                  <a:schemeClr val="tx1"/>
                </a:solidFill>
              </a:rPr>
              <a:t>Blehrmühlhuber</a:t>
            </a:r>
            <a:r>
              <a:rPr lang="de-DE" b="1" dirty="0">
                <a:solidFill>
                  <a:schemeClr val="tx1"/>
                </a:solidFill>
              </a:rPr>
              <a:t>, Nina Köck</a:t>
            </a:r>
            <a:endParaRPr lang="de-AT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549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27E33-6765-D949-D6F6-54C0052E7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773" y="356498"/>
            <a:ext cx="10515600" cy="1325563"/>
          </a:xfrm>
        </p:spPr>
        <p:txBody>
          <a:bodyPr/>
          <a:lstStyle>
            <a:lvl1pPr>
              <a:defRPr b="1">
                <a:latin typeface="Gadugi" panose="020B0502040204020203" pitchFamily="34" charset="0"/>
                <a:ea typeface="Gadugi" panose="020B0502040204020203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776F9D-EB5C-F0AA-65F8-10F1303C7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773" y="1816998"/>
            <a:ext cx="10515600" cy="4351338"/>
          </a:xfrm>
        </p:spPr>
        <p:txBody>
          <a:bodyPr>
            <a:normAutofit/>
          </a:bodyPr>
          <a:lstStyle>
            <a:lvl1pPr>
              <a:buClr>
                <a:schemeClr val="accent5"/>
              </a:buClr>
              <a:defRPr sz="2400">
                <a:latin typeface="Gadugi" panose="020B0502040204020203" pitchFamily="34" charset="0"/>
                <a:ea typeface="Gadugi" panose="020B0502040204020203" pitchFamily="34" charset="0"/>
              </a:defRPr>
            </a:lvl1pPr>
            <a:lvl2pPr>
              <a:buClr>
                <a:schemeClr val="accent5"/>
              </a:buClr>
              <a:defRPr sz="2000">
                <a:latin typeface="Gadugi" panose="020B0502040204020203" pitchFamily="34" charset="0"/>
                <a:ea typeface="Gadugi" panose="020B0502040204020203" pitchFamily="34" charset="0"/>
              </a:defRPr>
            </a:lvl2pPr>
            <a:lvl3pPr>
              <a:buClr>
                <a:schemeClr val="accent5"/>
              </a:buClr>
              <a:defRPr sz="1800">
                <a:latin typeface="Gadugi" panose="020B0502040204020203" pitchFamily="34" charset="0"/>
                <a:ea typeface="Gadugi" panose="020B0502040204020203" pitchFamily="34" charset="0"/>
              </a:defRPr>
            </a:lvl3pPr>
            <a:lvl4pPr>
              <a:buClr>
                <a:schemeClr val="accent5"/>
              </a:buClr>
              <a:defRPr sz="1600">
                <a:latin typeface="Gadugi" panose="020B0502040204020203" pitchFamily="34" charset="0"/>
                <a:ea typeface="Gadugi" panose="020B0502040204020203" pitchFamily="34" charset="0"/>
              </a:defRPr>
            </a:lvl4pPr>
            <a:lvl5pPr>
              <a:buClr>
                <a:schemeClr val="accent5"/>
              </a:buClr>
              <a:defRPr sz="1600">
                <a:latin typeface="Gadugi" panose="020B0502040204020203" pitchFamily="34" charset="0"/>
                <a:ea typeface="Gadugi" panose="020B0502040204020203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4366B0-81A8-C786-9A5A-72144C75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86773" y="6347723"/>
            <a:ext cx="2743200" cy="365125"/>
          </a:xfrm>
        </p:spPr>
        <p:txBody>
          <a:bodyPr/>
          <a:lstStyle/>
          <a:p>
            <a:fld id="{2C256AE1-D8FC-4CA8-9AE3-42ABBA6A6AD6}" type="datetime1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5FF209-E5B8-ADF2-823C-8BB8CD4F9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7173" y="6347723"/>
            <a:ext cx="4114800" cy="365125"/>
          </a:xfrm>
        </p:spPr>
        <p:txBody>
          <a:bodyPr/>
          <a:lstStyle/>
          <a:p>
            <a:r>
              <a:rPr lang="de-AT" dirty="0"/>
              <a:t>WAT4-Projekt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A18F04-BFB8-5ADA-0A44-22E4BAFF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9173" y="6347723"/>
            <a:ext cx="2743200" cy="365125"/>
          </a:xfrm>
        </p:spPr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5033802-7BF3-4F22-3A89-1D11005779B5}"/>
              </a:ext>
            </a:extLst>
          </p:cNvPr>
          <p:cNvSpPr/>
          <p:nvPr userDrawn="1"/>
        </p:nvSpPr>
        <p:spPr>
          <a:xfrm>
            <a:off x="250166" y="327804"/>
            <a:ext cx="785004" cy="63921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34233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4CE30A-E509-71A1-D826-3B21CBF9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8B819B-0CA2-0427-5708-61E90387E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CDB0DA-CF08-4F17-0B2E-838A4749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13FE-22FE-4007-B9F0-F098F6840D53}" type="datetime1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3336FA-3A56-7821-4CB4-2FBE0DA4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0B3CC1-7063-2150-A5AD-19227408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5360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DC369-FC63-6527-ED52-BBF93CDF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3F0439-05C3-0D3B-B713-E06EBEF7A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4328EE-CB2F-A5BF-FFCF-5F55A7BB0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FDBB35-6015-4CD4-0C9F-8A2CDECB6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D31-D5E5-49ED-BB1F-1E2CBEBF4EDD}" type="datetime1">
              <a:rPr lang="de-AT" smtClean="0"/>
              <a:t>24.06.2026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796E51-BC92-9CF7-EA57-3FDA2C19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ADB0BE-7CF8-1F84-6AB1-73934FE9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58995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D8FF2F-5D71-9F54-C8E7-108DD6A2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CAD325-3159-E84F-778B-D173F5023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1E4F21-ABB3-CAD4-E7AB-F939B4858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FCEBA47-C813-2A11-B057-11E24EF46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875F07-F4DD-5B47-8C43-28BBBBDD8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3275BA6-D3F9-F6C4-92DF-9DA70D22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041D-CB09-440C-9A35-8B94E6AB3CAF}" type="datetime1">
              <a:rPr lang="de-AT" smtClean="0"/>
              <a:t>24.06.2026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2ACC77-9B66-67E8-996D-E99FCFA79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7848883-851F-E79C-C5BD-DDDC682B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31933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6631E-3116-8F88-4A55-C9171664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B99B7F-89B0-6812-0F9D-4B1A9E3E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1A3D-CCA3-471C-B1FE-4C3D437BCA55}" type="datetime1">
              <a:rPr lang="de-AT" smtClean="0"/>
              <a:t>24.06.2026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97751B-3333-5597-4DBA-C1390167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27F6CC8-E996-04EE-4637-4440F073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20503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3EE861E-92F9-3634-84EB-0BE2A91D0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5B88-D02E-4C87-A858-C82D6A4D2664}" type="datetime1">
              <a:rPr lang="de-AT" smtClean="0"/>
              <a:t>24.06.2026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8E99F1-9F10-CFB7-37D1-F631652D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93A0D4-9592-9E3B-4B09-BCCBE166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35954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8EE1C-7742-327A-ED0B-1F5833E7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332A49-F208-BB7B-84E4-480919712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E46424-D111-CBB0-8F84-96FC97D38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55F9E4-8B15-1D80-67A1-5A3DF0B1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D757-7EA7-4066-8EC4-3AE35224CECE}" type="datetime1">
              <a:rPr lang="de-AT" smtClean="0"/>
              <a:t>24.06.2026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D1E8B0-6DB8-5BF5-CCBA-1C0A4D27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F413E7-3A21-AC0E-D773-9E796741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6328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24E349-1E5A-C799-F91C-82F2E1CC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B7C52E5-5612-71C7-BE52-C16648E6D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DE6186-0CD1-59A9-2F9A-E6DD57C68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2A7E26-9EA5-4D16-3E8E-D764D6A0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338A-DABA-42FE-A64F-3C4284362BD1}" type="datetime1">
              <a:rPr lang="de-AT" smtClean="0"/>
              <a:t>24.06.2026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CCDAA8-38C0-85E6-8885-4795CA6F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8307E4-AE53-DFF2-09BD-42E8CF97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7879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2ACD98-2987-2DE0-9C70-8150AAEB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E98DA8-5363-F06F-412A-7F358D02F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677972-075D-B99D-F486-ED5EEF89E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2AAB5-96C4-48E7-A6C7-84FD70B8D800}" type="datetime1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336F73-2BB8-56A9-933B-4624FDC0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39AE7A-D42D-26FD-A140-99B70E97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15563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C8EEC4-FE5A-319C-4D4D-A77D8F3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26F07E9-EF49-3E63-536C-A6CA76E43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F7CEDC-D894-3924-275E-BC4E29EE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1E0-A554-4BA4-95FE-5164E5E8BE4C}" type="datetime1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A09DA1-9C3B-7FAC-53EC-7FB240FD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6EAECB-1D7E-8972-CEFF-370B1A55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22047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8AC0A97-A53C-C94B-4CE3-DDE5C722B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B8FD54-CA49-1C7C-987A-6B41261A7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900162-889C-B5B8-F0AF-B0A81AB63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D4DA27-5A35-4EA4-8121-A26D3E5A1D10}" type="datetime1">
              <a:rPr lang="de-AT" smtClean="0"/>
              <a:t>24.06.2026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8009D2-6297-30D6-6FB4-40BEFD644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AT" dirty="0"/>
              <a:t>WAT4-Projekt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AB198A-E5CB-BAA4-1824-5804171F3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B15F3-0234-4FA4-BD27-97EC72DCD22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9847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B6BC-38F8-9B97-1E5C-6E02027A0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AT" sz="4400" dirty="0"/>
              <a:t>Smart </a:t>
            </a:r>
            <a:r>
              <a:rPr lang="de-AT" sz="4400" dirty="0" err="1"/>
              <a:t>card</a:t>
            </a:r>
            <a:r>
              <a:rPr lang="de-AT" sz="4400" dirty="0"/>
              <a:t> </a:t>
            </a:r>
            <a:r>
              <a:rPr lang="de-AT" sz="4400" dirty="0" err="1"/>
              <a:t>counter</a:t>
            </a:r>
            <a:endParaRPr lang="de-AT" sz="4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56BD14-1507-381C-6F52-5EB1105CEB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Eine smarter intuitiver Spielblock für ein Wizard ähnliches Kartenspiel (</a:t>
            </a:r>
            <a:r>
              <a:rPr lang="de-DE" dirty="0" err="1"/>
              <a:t>Javascript</a:t>
            </a:r>
            <a:r>
              <a:rPr lang="de-DE" dirty="0"/>
              <a:t>)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42996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721191-A4BC-EE80-3E6D-DE344525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Anwendung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1B9790-244C-6066-9830-D3E1D8CF9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i="1" dirty="0"/>
              <a:t>Progressive Web App (PWA) für das Kartenspiel „Auffi </a:t>
            </a:r>
            <a:r>
              <a:rPr lang="de-AT" i="1" dirty="0" err="1"/>
              <a:t>owe</a:t>
            </a:r>
            <a:r>
              <a:rPr lang="de-AT" i="1" dirty="0"/>
              <a:t>“</a:t>
            </a:r>
          </a:p>
          <a:p>
            <a:pPr marL="0" indent="0">
              <a:buNone/>
            </a:pPr>
            <a:endParaRPr lang="de-AT" dirty="0"/>
          </a:p>
          <a:p>
            <a:r>
              <a:rPr lang="de-AT" dirty="0"/>
              <a:t>Kein Backend, kein Server – läuft vollständig im Browser</a:t>
            </a:r>
          </a:p>
          <a:p>
            <a:r>
              <a:rPr lang="de-AT" dirty="0"/>
              <a:t>Spielstand wird ausschließlich im </a:t>
            </a:r>
            <a:r>
              <a:rPr lang="de-AT" dirty="0" err="1"/>
              <a:t>localStorage</a:t>
            </a:r>
            <a:r>
              <a:rPr lang="de-AT" dirty="0"/>
              <a:t> gespeichert</a:t>
            </a:r>
          </a:p>
          <a:p>
            <a:r>
              <a:rPr lang="de-AT" dirty="0"/>
              <a:t>Unterstützt Offline-Betrieb dank Service Worker (Cache-First)</a:t>
            </a:r>
          </a:p>
          <a:p>
            <a:endParaRPr lang="de-AT" dirty="0"/>
          </a:p>
          <a:p>
            <a:pPr marL="0" indent="0">
              <a:buNone/>
            </a:pPr>
            <a:r>
              <a:rPr lang="de-AT" dirty="0"/>
              <a:t>Architektur: MVC + zentraler </a:t>
            </a:r>
            <a:r>
              <a:rPr lang="de-AT" dirty="0" err="1"/>
              <a:t>EventBus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D984D3-EBC1-6A29-B656-C1CDFD23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58A681-FB7C-BD8E-CF7F-5A6766BC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10645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34A9E-83B3-DE4F-909B-E61A2F5C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4A076-C4D2-AA60-2410-2C77CCE0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Gameplay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DB7324-9290-2B64-C8C9-5A9583702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13 Runden</a:t>
            </a:r>
          </a:p>
          <a:p>
            <a:r>
              <a:rPr lang="de-AT" dirty="0"/>
              <a:t>Kartenfolge [1,2,3,4,5,6,7,6,5,4,3,2,1]</a:t>
            </a:r>
          </a:p>
          <a:p>
            <a:r>
              <a:rPr lang="de-AT" dirty="0"/>
              <a:t>Ansage-Phase (für jeden Spieler geschätzte Stichanzahl eintragen)</a:t>
            </a:r>
          </a:p>
          <a:p>
            <a:r>
              <a:rPr lang="de-AT" dirty="0"/>
              <a:t>Stiche-Phase (für jeden Spieler gemachte Stichzahl eintragen)</a:t>
            </a:r>
          </a:p>
          <a:p>
            <a:r>
              <a:rPr lang="de-AT" dirty="0"/>
              <a:t>Automatische Punkteberechnung</a:t>
            </a:r>
          </a:p>
          <a:p>
            <a:r>
              <a:rPr lang="de-AT" dirty="0"/>
              <a:t>Am Spielende Podium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AEEBCB-F719-56E6-8704-1511E677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F81893-C7FF-26AE-175E-A6BF0117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6718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5820B-0D45-CCE6-C4A5-97D8EE88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Teststrategie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A862ED-6B19-EDE2-3E7C-EC21B69FE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773" y="6098603"/>
            <a:ext cx="10515600" cy="575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AT" dirty="0"/>
              <a:t>Pro Person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555DD75-CF9C-4F44-DE35-A19CC96E5642}"/>
              </a:ext>
            </a:extLst>
          </p:cNvPr>
          <p:cNvSpPr txBox="1"/>
          <p:nvPr/>
        </p:nvSpPr>
        <p:spPr>
          <a:xfrm>
            <a:off x="1286773" y="3313726"/>
            <a:ext cx="10515600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AT" sz="2000" dirty="0">
                <a:latin typeface="Gadugi" panose="020B0502040204020203" pitchFamily="34" charset="0"/>
                <a:ea typeface="Gadugi" panose="020B0502040204020203" pitchFamily="34" charset="0"/>
              </a:rPr>
              <a:t>Unit-Tests (Jest)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4629017-3EB6-6028-3DDF-FAA21AE5AB95}"/>
              </a:ext>
            </a:extLst>
          </p:cNvPr>
          <p:cNvSpPr txBox="1"/>
          <p:nvPr/>
        </p:nvSpPr>
        <p:spPr>
          <a:xfrm>
            <a:off x="1286773" y="2810997"/>
            <a:ext cx="10515600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AT" sz="2000" dirty="0">
                <a:latin typeface="Gadugi" panose="020B0502040204020203" pitchFamily="34" charset="0"/>
                <a:ea typeface="Gadugi" panose="020B0502040204020203" pitchFamily="34" charset="0"/>
              </a:rPr>
              <a:t>Integrations-Tests (</a:t>
            </a:r>
            <a:r>
              <a:rPr lang="de-AT" sz="2000" dirty="0" err="1">
                <a:latin typeface="Gadugi" panose="020B0502040204020203" pitchFamily="34" charset="0"/>
                <a:ea typeface="Gadugi" panose="020B0502040204020203" pitchFamily="34" charset="0"/>
              </a:rPr>
              <a:t>Jest+jsdom</a:t>
            </a:r>
            <a:r>
              <a:rPr lang="de-AT" sz="2000" dirty="0">
                <a:latin typeface="Gadugi" panose="020B0502040204020203" pitchFamily="34" charset="0"/>
                <a:ea typeface="Gadugi" panose="020B0502040204020203" pitchFamily="34" charset="0"/>
              </a:rPr>
              <a:t>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74580DA-919D-8390-7363-F4D1DC4D40A0}"/>
              </a:ext>
            </a:extLst>
          </p:cNvPr>
          <p:cNvSpPr txBox="1"/>
          <p:nvPr/>
        </p:nvSpPr>
        <p:spPr>
          <a:xfrm>
            <a:off x="1286773" y="2308268"/>
            <a:ext cx="10515600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AT" sz="2000" dirty="0">
                <a:latin typeface="Gadugi" panose="020B0502040204020203" pitchFamily="34" charset="0"/>
                <a:ea typeface="Gadugi" panose="020B0502040204020203" pitchFamily="34" charset="0"/>
              </a:rPr>
              <a:t>System/e2e-Tests (</a:t>
            </a:r>
            <a:r>
              <a:rPr lang="de-AT" sz="2000" dirty="0" err="1">
                <a:latin typeface="Gadugi" panose="020B0502040204020203" pitchFamily="34" charset="0"/>
                <a:ea typeface="Gadugi" panose="020B0502040204020203" pitchFamily="34" charset="0"/>
              </a:rPr>
              <a:t>Playwright</a:t>
            </a:r>
            <a:r>
              <a:rPr lang="de-AT" sz="2000" dirty="0">
                <a:latin typeface="Gadugi" panose="020B0502040204020203" pitchFamily="34" charset="0"/>
                <a:ea typeface="Gadugi" panose="020B0502040204020203" pitchFamily="34" charset="0"/>
              </a:rPr>
              <a:t>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2E00D39-AC02-8A7D-F27E-5D5C2FF574F5}"/>
              </a:ext>
            </a:extLst>
          </p:cNvPr>
          <p:cNvSpPr txBox="1"/>
          <p:nvPr/>
        </p:nvSpPr>
        <p:spPr>
          <a:xfrm>
            <a:off x="1286773" y="1795109"/>
            <a:ext cx="1051560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AT" sz="2000" dirty="0">
                <a:latin typeface="Gadugi" panose="020B0502040204020203" pitchFamily="34" charset="0"/>
                <a:ea typeface="Gadugi" panose="020B0502040204020203" pitchFamily="34" charset="0"/>
              </a:rPr>
              <a:t>Load-Tests (k6)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3FE5A6B-82E5-0C8C-22B4-338EABD1A2A6}"/>
              </a:ext>
            </a:extLst>
          </p:cNvPr>
          <p:cNvSpPr txBox="1">
            <a:spLocks/>
          </p:cNvSpPr>
          <p:nvPr/>
        </p:nvSpPr>
        <p:spPr>
          <a:xfrm>
            <a:off x="1286773" y="4034492"/>
            <a:ext cx="10515600" cy="17434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/>
              <a:t>5 Unit Tests</a:t>
            </a:r>
          </a:p>
          <a:p>
            <a:r>
              <a:rPr lang="de-AT" dirty="0"/>
              <a:t>3 Integration Tests</a:t>
            </a:r>
          </a:p>
          <a:p>
            <a:r>
              <a:rPr lang="de-AT" dirty="0"/>
              <a:t>2 System-Tests</a:t>
            </a:r>
          </a:p>
          <a:p>
            <a:r>
              <a:rPr lang="de-AT" dirty="0"/>
              <a:t>1 Load-Test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AT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8904027-1245-07E7-3932-C702524B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  <a:endParaRPr lang="de-AT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9E8A24EF-0457-A9D3-969A-1413B5D0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3769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BCCC77-0AE3-776A-0E06-A968B6B9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Unit-Tests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4B062C-A248-5667-D151-9EB4EA73D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773" y="1816998"/>
            <a:ext cx="409361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AT" dirty="0" err="1"/>
              <a:t>ScoreEngine</a:t>
            </a:r>
            <a:endParaRPr lang="de-AT" dirty="0"/>
          </a:p>
          <a:p>
            <a:pPr>
              <a:lnSpc>
                <a:spcPct val="150000"/>
              </a:lnSpc>
            </a:pPr>
            <a:r>
              <a:rPr lang="de-AT" dirty="0" err="1"/>
              <a:t>GameModel</a:t>
            </a:r>
            <a:endParaRPr lang="de-AT" dirty="0"/>
          </a:p>
          <a:p>
            <a:pPr>
              <a:lnSpc>
                <a:spcPct val="150000"/>
              </a:lnSpc>
            </a:pPr>
            <a:r>
              <a:rPr lang="de-AT" dirty="0" err="1"/>
              <a:t>AutoFillService</a:t>
            </a:r>
            <a:endParaRPr lang="de-AT" dirty="0"/>
          </a:p>
          <a:p>
            <a:pPr>
              <a:lnSpc>
                <a:spcPct val="150000"/>
              </a:lnSpc>
            </a:pPr>
            <a:r>
              <a:rPr lang="de-AT" dirty="0" err="1"/>
              <a:t>EventBus</a:t>
            </a:r>
            <a:endParaRPr lang="de-AT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5F83643-61A7-9215-AE6A-5A7D1521D24D}"/>
              </a:ext>
            </a:extLst>
          </p:cNvPr>
          <p:cNvSpPr txBox="1">
            <a:spLocks/>
          </p:cNvSpPr>
          <p:nvPr/>
        </p:nvSpPr>
        <p:spPr>
          <a:xfrm>
            <a:off x="4943719" y="2573337"/>
            <a:ext cx="5485742" cy="3729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dirty="0"/>
              <a:t>Kernfunktionen, Zustandsmanagement</a:t>
            </a:r>
          </a:p>
          <a:p>
            <a:pPr marL="0" indent="0">
              <a:buNone/>
            </a:pPr>
            <a:r>
              <a:rPr lang="de-AT" dirty="0">
                <a:sym typeface="Wingdings" panose="05000000000000000000" pitchFamily="2" charset="2"/>
              </a:rPr>
              <a:t> Fehler verfälschen das Spiel</a:t>
            </a:r>
            <a:endParaRPr lang="de-AT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AAD7795-6872-DAE2-6450-55B59184D7F9}"/>
              </a:ext>
            </a:extLst>
          </p:cNvPr>
          <p:cNvSpPr txBox="1">
            <a:spLocks/>
          </p:cNvSpPr>
          <p:nvPr/>
        </p:nvSpPr>
        <p:spPr>
          <a:xfrm>
            <a:off x="4943719" y="1901686"/>
            <a:ext cx="5485742" cy="536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Warum?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D5A8DF-BD48-765F-BE34-A0FF12568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  <a:endParaRPr lang="de-AT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9BCA36-7D77-D005-E5DA-B480E916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240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9F46-C405-C4AC-2170-C98FD663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CA3A9-407F-238E-D1DE-CF7E9F39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Integration-Tests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B2D855-1201-FDC4-8EEC-4B57D921D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773" y="1926811"/>
            <a:ext cx="5153784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AT" dirty="0" err="1"/>
              <a:t>EventBus</a:t>
            </a:r>
            <a:r>
              <a:rPr lang="de-AT" dirty="0"/>
              <a:t> </a:t>
            </a:r>
            <a:r>
              <a:rPr lang="de-AT" dirty="0">
                <a:sym typeface="Wingdings" panose="05000000000000000000" pitchFamily="2" charset="2"/>
              </a:rPr>
              <a:t> Controller  DOM</a:t>
            </a:r>
            <a:br>
              <a:rPr lang="de-AT" dirty="0">
                <a:sym typeface="Wingdings" panose="05000000000000000000" pitchFamily="2" charset="2"/>
              </a:rPr>
            </a:br>
            <a:r>
              <a:rPr lang="de-AT" sz="2000" dirty="0">
                <a:sym typeface="Wingdings" panose="05000000000000000000" pitchFamily="2" charset="2"/>
              </a:rPr>
              <a:t>Spieler hinzufügen, Start-Button-Guard</a:t>
            </a:r>
          </a:p>
          <a:p>
            <a:pPr>
              <a:lnSpc>
                <a:spcPct val="100000"/>
              </a:lnSpc>
            </a:pPr>
            <a:r>
              <a:rPr lang="de-AT" dirty="0" err="1">
                <a:sym typeface="Wingdings" panose="05000000000000000000" pitchFamily="2" charset="2"/>
              </a:rPr>
              <a:t>localStorage</a:t>
            </a:r>
            <a:r>
              <a:rPr lang="de-AT" dirty="0">
                <a:sym typeface="Wingdings" panose="05000000000000000000" pitchFamily="2" charset="2"/>
              </a:rPr>
              <a:t>  </a:t>
            </a:r>
            <a:r>
              <a:rPr lang="de-AT" dirty="0" err="1">
                <a:sym typeface="Wingdings" panose="05000000000000000000" pitchFamily="2" charset="2"/>
              </a:rPr>
              <a:t>GameModel</a:t>
            </a:r>
            <a:br>
              <a:rPr lang="de-AT" dirty="0">
                <a:sym typeface="Wingdings" panose="05000000000000000000" pitchFamily="2" charset="2"/>
              </a:rPr>
            </a:br>
            <a:r>
              <a:rPr lang="de-AT" sz="2000" dirty="0">
                <a:sym typeface="Wingdings" panose="05000000000000000000" pitchFamily="2" charset="2"/>
              </a:rPr>
              <a:t>Spielstand nach Browser-Neustart</a:t>
            </a:r>
          </a:p>
          <a:p>
            <a:pPr>
              <a:lnSpc>
                <a:spcPct val="100000"/>
              </a:lnSpc>
            </a:pPr>
            <a:r>
              <a:rPr lang="de-AT" dirty="0" err="1">
                <a:sym typeface="Wingdings" panose="05000000000000000000" pitchFamily="2" charset="2"/>
              </a:rPr>
              <a:t>RoundController</a:t>
            </a:r>
            <a:br>
              <a:rPr lang="de-AT" dirty="0">
                <a:sym typeface="Wingdings" panose="05000000000000000000" pitchFamily="2" charset="2"/>
              </a:rPr>
            </a:br>
            <a:r>
              <a:rPr lang="de-AT" sz="2000" dirty="0">
                <a:sym typeface="Wingdings" panose="05000000000000000000" pitchFamily="2" charset="2"/>
              </a:rPr>
              <a:t>gültige/ungültige Stichwerte</a:t>
            </a:r>
          </a:p>
          <a:p>
            <a:pPr>
              <a:lnSpc>
                <a:spcPct val="100000"/>
              </a:lnSpc>
            </a:pPr>
            <a:r>
              <a:rPr lang="de-AT" dirty="0">
                <a:sym typeface="Wingdings" panose="05000000000000000000" pitchFamily="2" charset="2"/>
              </a:rPr>
              <a:t>Kaskaden-Neuberechnung</a:t>
            </a:r>
            <a:br>
              <a:rPr lang="de-AT" dirty="0">
                <a:sym typeface="Wingdings" panose="05000000000000000000" pitchFamily="2" charset="2"/>
              </a:rPr>
            </a:br>
            <a:r>
              <a:rPr lang="de-AT" sz="2000" dirty="0">
                <a:sym typeface="Wingdings" panose="05000000000000000000" pitchFamily="2" charset="2"/>
              </a:rPr>
              <a:t>Nach rückwirkender Ansage-Änderung</a:t>
            </a:r>
          </a:p>
          <a:p>
            <a:pPr>
              <a:lnSpc>
                <a:spcPct val="100000"/>
              </a:lnSpc>
            </a:pPr>
            <a:endParaRPr lang="de-AT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F123FEE-87D0-4136-6F5C-7A56E9683417}"/>
              </a:ext>
            </a:extLst>
          </p:cNvPr>
          <p:cNvSpPr txBox="1">
            <a:spLocks/>
          </p:cNvSpPr>
          <p:nvPr/>
        </p:nvSpPr>
        <p:spPr>
          <a:xfrm>
            <a:off x="6316631" y="2463525"/>
            <a:ext cx="5485742" cy="2581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dirty="0"/>
              <a:t>Integration-Tests prüfen den vollständigen Datenpfad bis ins DOM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356B260-100B-2CE0-423A-F7A358B61CE6}"/>
              </a:ext>
            </a:extLst>
          </p:cNvPr>
          <p:cNvSpPr txBox="1">
            <a:spLocks/>
          </p:cNvSpPr>
          <p:nvPr/>
        </p:nvSpPr>
        <p:spPr>
          <a:xfrm>
            <a:off x="6316631" y="1926811"/>
            <a:ext cx="5485742" cy="536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Warum?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3DCF48-DD4B-F9FA-770A-B8753F4F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  <a:endParaRPr lang="de-AT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26047F-03CC-1CD2-8893-40AD8F06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25978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32E9-6A04-4581-6860-6F58B913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6323D2-D1C3-21C7-F078-F18634642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System-Tests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BD1191-BB45-88E0-CC73-903D605B2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773" y="1831701"/>
            <a:ext cx="6275562" cy="408960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de-AT" sz="2600" dirty="0"/>
              <a:t>Vollständiger 13-Runde-Spieldurchlauf</a:t>
            </a:r>
            <a:br>
              <a:rPr lang="de-AT" dirty="0"/>
            </a:br>
            <a:r>
              <a:rPr lang="de-AT" sz="2200" dirty="0"/>
              <a:t>Happy Path bis Podium</a:t>
            </a:r>
          </a:p>
          <a:p>
            <a:pPr>
              <a:lnSpc>
                <a:spcPct val="120000"/>
              </a:lnSpc>
            </a:pPr>
            <a:r>
              <a:rPr lang="de-AT" sz="2600" dirty="0"/>
              <a:t>Offline-Test</a:t>
            </a:r>
            <a:br>
              <a:rPr lang="de-AT" dirty="0"/>
            </a:br>
            <a:r>
              <a:rPr lang="de-AT" sz="2200" dirty="0"/>
              <a:t>App startet und bleibt interaktiv aus dem Service-Worker-Cache</a:t>
            </a:r>
          </a:p>
          <a:p>
            <a:pPr>
              <a:lnSpc>
                <a:spcPct val="120000"/>
              </a:lnSpc>
            </a:pPr>
            <a:r>
              <a:rPr lang="de-AT" sz="2600" dirty="0"/>
              <a:t>Browser-</a:t>
            </a:r>
            <a:r>
              <a:rPr lang="de-AT" sz="2600" dirty="0" err="1"/>
              <a:t>Reload</a:t>
            </a:r>
            <a:br>
              <a:rPr lang="de-AT" dirty="0"/>
            </a:br>
            <a:r>
              <a:rPr lang="de-AT" sz="2200" dirty="0"/>
              <a:t>stellt Rundenindex und Spielstand wieder her</a:t>
            </a:r>
          </a:p>
          <a:p>
            <a:pPr>
              <a:lnSpc>
                <a:spcPct val="120000"/>
              </a:lnSpc>
            </a:pPr>
            <a:r>
              <a:rPr lang="de-AT" sz="2600" dirty="0"/>
              <a:t>Rückwirkende Stich-Änderung aktualisiert richtig</a:t>
            </a:r>
          </a:p>
          <a:p>
            <a:pPr>
              <a:lnSpc>
                <a:spcPct val="120000"/>
              </a:lnSpc>
            </a:pPr>
            <a:endParaRPr lang="de-AT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25903FC8-1BB7-9D82-74D9-E0751E66CD82}"/>
              </a:ext>
            </a:extLst>
          </p:cNvPr>
          <p:cNvSpPr txBox="1">
            <a:spLocks/>
          </p:cNvSpPr>
          <p:nvPr/>
        </p:nvSpPr>
        <p:spPr>
          <a:xfrm>
            <a:off x="7562335" y="2353712"/>
            <a:ext cx="4240038" cy="3567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dirty="0"/>
              <a:t>Service Worker, Offline-Verhalten, </a:t>
            </a:r>
            <a:r>
              <a:rPr lang="de-AT" dirty="0" err="1"/>
              <a:t>localStorage</a:t>
            </a:r>
            <a:r>
              <a:rPr lang="de-AT" dirty="0"/>
              <a:t> lassen sich nur im echten Browser testen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2C284C-A29F-E987-74CB-4F5528AE9D4E}"/>
              </a:ext>
            </a:extLst>
          </p:cNvPr>
          <p:cNvSpPr txBox="1">
            <a:spLocks/>
          </p:cNvSpPr>
          <p:nvPr/>
        </p:nvSpPr>
        <p:spPr>
          <a:xfrm>
            <a:off x="7554397" y="1816998"/>
            <a:ext cx="3444907" cy="536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Warum?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8B9259-0014-C263-67A2-9EF46B62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  <a:endParaRPr lang="de-AT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A4B917-D4AA-1BC7-1616-289145C5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29884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C551F-AC76-FFAA-1CD8-8A4C8301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25E1A2-A8CA-C538-E378-DF44CACF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Load-Tests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3C24D9-0726-F416-BAAB-EF85220A2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773" y="1831701"/>
            <a:ext cx="6275562" cy="408960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de-AT" sz="2600" dirty="0"/>
              <a:t>Korrektheit/Verfügbarkeit</a:t>
            </a:r>
            <a:br>
              <a:rPr lang="de-AT" sz="2600" dirty="0"/>
            </a:br>
            <a:r>
              <a:rPr lang="de-AT" sz="2000" dirty="0"/>
              <a:t>virtuelle User: 5</a:t>
            </a:r>
            <a:br>
              <a:rPr lang="de-AT" sz="2000" dirty="0"/>
            </a:br>
            <a:r>
              <a:rPr lang="de-AT" sz="2000" dirty="0"/>
              <a:t>Dauer: 30 Sekunden</a:t>
            </a:r>
            <a:br>
              <a:rPr lang="de-AT" sz="2000" dirty="0"/>
            </a:br>
            <a:r>
              <a:rPr lang="de-AT" sz="2000" dirty="0"/>
              <a:t>Error </a:t>
            </a:r>
            <a:r>
              <a:rPr lang="de-AT" sz="2000" dirty="0" err="1"/>
              <a:t>threshold</a:t>
            </a:r>
            <a:r>
              <a:rPr lang="de-AT" sz="2000" dirty="0"/>
              <a:t>: &lt; 1 %</a:t>
            </a:r>
          </a:p>
          <a:p>
            <a:pPr>
              <a:lnSpc>
                <a:spcPct val="150000"/>
              </a:lnSpc>
            </a:pPr>
            <a:r>
              <a:rPr lang="de-AT" sz="2600" dirty="0"/>
              <a:t>Kapazität</a:t>
            </a:r>
            <a:br>
              <a:rPr lang="de-AT" sz="2600" dirty="0"/>
            </a:br>
            <a:r>
              <a:rPr lang="de-AT" sz="2000" dirty="0"/>
              <a:t>virtuelle User: 50</a:t>
            </a:r>
            <a:br>
              <a:rPr lang="de-AT" sz="2000" dirty="0"/>
            </a:br>
            <a:r>
              <a:rPr lang="de-AT" sz="2000" dirty="0"/>
              <a:t>Dauer: 2 Minuten</a:t>
            </a:r>
            <a:br>
              <a:rPr lang="de-AT" sz="2000" dirty="0"/>
            </a:br>
            <a:r>
              <a:rPr lang="de-AT" sz="2000" dirty="0"/>
              <a:t>Error </a:t>
            </a:r>
            <a:r>
              <a:rPr lang="de-AT" sz="2000" dirty="0" err="1"/>
              <a:t>threshold</a:t>
            </a:r>
            <a:r>
              <a:rPr lang="de-AT" sz="2000" dirty="0"/>
              <a:t>: &lt; 5 %</a:t>
            </a:r>
          </a:p>
          <a:p>
            <a:pPr>
              <a:lnSpc>
                <a:spcPct val="150000"/>
              </a:lnSpc>
            </a:pPr>
            <a:endParaRPr lang="de-AT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28B4144-C427-87A3-E7E4-3B89E30E8E45}"/>
              </a:ext>
            </a:extLst>
          </p:cNvPr>
          <p:cNvSpPr txBox="1">
            <a:spLocks/>
          </p:cNvSpPr>
          <p:nvPr/>
        </p:nvSpPr>
        <p:spPr>
          <a:xfrm>
            <a:off x="7562335" y="2353712"/>
            <a:ext cx="4240038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dirty="0"/>
              <a:t>Enger Grenzwert, gestaltet, dass er bei jedem </a:t>
            </a:r>
            <a:r>
              <a:rPr lang="de-AT" dirty="0" err="1"/>
              <a:t>Deployment</a:t>
            </a:r>
            <a:r>
              <a:rPr lang="de-AT" dirty="0"/>
              <a:t> läuft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92F5EA6-7537-64E0-B956-F1ADF61C7503}"/>
              </a:ext>
            </a:extLst>
          </p:cNvPr>
          <p:cNvSpPr txBox="1">
            <a:spLocks/>
          </p:cNvSpPr>
          <p:nvPr/>
        </p:nvSpPr>
        <p:spPr>
          <a:xfrm>
            <a:off x="7554397" y="1816998"/>
            <a:ext cx="3444907" cy="536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Warum?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6440D64-C1D1-0A47-5A71-3D0D6D84B37D}"/>
              </a:ext>
            </a:extLst>
          </p:cNvPr>
          <p:cNvSpPr txBox="1">
            <a:spLocks/>
          </p:cNvSpPr>
          <p:nvPr/>
        </p:nvSpPr>
        <p:spPr>
          <a:xfrm>
            <a:off x="7562335" y="4398514"/>
            <a:ext cx="4240038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dirty="0"/>
              <a:t>Simuliert einen größeren User-Pool, hat lockerere Grenzwerte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B2F75A9-D8B6-0FCA-4CE7-8D281B302FC2}"/>
              </a:ext>
            </a:extLst>
          </p:cNvPr>
          <p:cNvSpPr txBox="1">
            <a:spLocks/>
          </p:cNvSpPr>
          <p:nvPr/>
        </p:nvSpPr>
        <p:spPr>
          <a:xfrm>
            <a:off x="7562335" y="3947632"/>
            <a:ext cx="3444907" cy="536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Warum?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2301387-0A42-F86D-BE60-E6DAB504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WAT4-Projekt</a:t>
            </a:r>
            <a:endParaRPr lang="de-AT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9EA3249-9994-D512-5D26-3D85B3F1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B15F3-0234-4FA4-BD27-97EC72DCD226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6800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D893-9D6A-4200-602D-75EFFB1E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02398-9AD3-F8C3-85FD-387069F78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AT" sz="4400" dirty="0"/>
              <a:t>Smart </a:t>
            </a:r>
            <a:r>
              <a:rPr lang="de-AT" sz="4400" dirty="0" err="1"/>
              <a:t>card</a:t>
            </a:r>
            <a:r>
              <a:rPr lang="de-AT" sz="4400" dirty="0"/>
              <a:t> </a:t>
            </a:r>
            <a:r>
              <a:rPr lang="de-AT" sz="4400" dirty="0" err="1"/>
              <a:t>counter</a:t>
            </a:r>
            <a:endParaRPr lang="de-AT" sz="4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2FB820-1819-F3A3-B977-1401C59692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Eine smarter intuitiver Spielblock für ein Wizard ähnliches Kartenspiel (</a:t>
            </a:r>
            <a:r>
              <a:rPr lang="de-DE" dirty="0" err="1"/>
              <a:t>Javascript</a:t>
            </a:r>
            <a:r>
              <a:rPr lang="de-DE" dirty="0"/>
              <a:t>)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52167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Rotviolet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Breitbild</PresentationFormat>
  <Paragraphs>72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Gadugi</vt:lpstr>
      <vt:lpstr>Wingdings</vt:lpstr>
      <vt:lpstr>Office</vt:lpstr>
      <vt:lpstr>Smart card counter</vt:lpstr>
      <vt:lpstr>Anwendung</vt:lpstr>
      <vt:lpstr>Gameplay</vt:lpstr>
      <vt:lpstr>Teststrategie</vt:lpstr>
      <vt:lpstr>Unit-Tests</vt:lpstr>
      <vt:lpstr>Integration-Tests</vt:lpstr>
      <vt:lpstr>System-Tests</vt:lpstr>
      <vt:lpstr>Load-Tests</vt:lpstr>
      <vt:lpstr>Smart card counter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Nina Köck</dc:creator>
  <cp:lastModifiedBy>Nina Köck</cp:lastModifiedBy>
  <cp:revision>26</cp:revision>
  <dcterms:created xsi:type="dcterms:W3CDTF">2026-06-24T18:47:18Z</dcterms:created>
  <dcterms:modified xsi:type="dcterms:W3CDTF">2026-06-24T21:27:56Z</dcterms:modified>
</cp:coreProperties>
</file>